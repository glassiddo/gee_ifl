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f8d51f37074aa6" /><Relationship Type="http://schemas.openxmlformats.org/officeDocument/2006/relationships/extended-properties" Target="/docProps/app.xml" Id="Rb65315bcb7524ce2" /><Relationship Type="http://schemas.openxmlformats.org/officeDocument/2006/relationships/officeDocument" Target="/ppt/presentation.xml" Id="R2800d5da49a440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2d4ddfedf43f3"/>
  </p:sldMasterIdLst>
  <p:notesMasterIdLst>
    <p:notesMasterId xmlns:r="http://schemas.openxmlformats.org/officeDocument/2006/relationships" r:id="R2687750a23cf46ce"/>
  </p:notesMasterIdLst>
  <p:sldIdLst>
    <p:sldId xmlns:r="http://schemas.openxmlformats.org/officeDocument/2006/relationships" id="256" r:id="R96e85367bfe645fd"/>
    <p:sldId xmlns:r="http://schemas.openxmlformats.org/officeDocument/2006/relationships" id="257" r:id="Rbf81eaa8c6444cce"/>
    <p:sldId xmlns:r="http://schemas.openxmlformats.org/officeDocument/2006/relationships" id="258" r:id="Rf61865030fa84fd6"/>
    <p:sldId xmlns:r="http://schemas.openxmlformats.org/officeDocument/2006/relationships" id="259" r:id="R1c4b27e85f534932"/>
    <p:sldId xmlns:r="http://schemas.openxmlformats.org/officeDocument/2006/relationships" id="260" r:id="R7bc5d9f003834d43"/>
    <p:sldId xmlns:r="http://schemas.openxmlformats.org/officeDocument/2006/relationships" id="261" r:id="R49af74181f2c42e0"/>
    <p:sldId xmlns:r="http://schemas.openxmlformats.org/officeDocument/2006/relationships" id="262" r:id="R4b8f20bd05114c1c"/>
    <p:sldId xmlns:r="http://schemas.openxmlformats.org/officeDocument/2006/relationships" id="263" r:id="Re18312e2baf94d72"/>
    <p:sldId xmlns:r="http://schemas.openxmlformats.org/officeDocument/2006/relationships" id="264" r:id="Rc022fd10e2bf4499"/>
    <p:sldId xmlns:r="http://schemas.openxmlformats.org/officeDocument/2006/relationships" id="265" r:id="R28fae15524664785"/>
    <p:sldId xmlns:r="http://schemas.openxmlformats.org/officeDocument/2006/relationships" id="266" r:id="Rada2a33ee1ab46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78860d0fea412d" /><Relationship Type="http://schemas.openxmlformats.org/officeDocument/2006/relationships/slideMaster" Target="/ppt/slideMasters/slideMaster1.xml" Id="R3872d4ddfedf43f3" /><Relationship Type="http://schemas.openxmlformats.org/officeDocument/2006/relationships/notesMaster" Target="/ppt/notesMasters/notesMaster1.xml" Id="R2687750a23cf46ce" /><Relationship Type="http://schemas.openxmlformats.org/officeDocument/2006/relationships/presProps" Target="/ppt/presProps.xml" Id="Redc5f52d3f2f4f74" /><Relationship Type="http://schemas.openxmlformats.org/officeDocument/2006/relationships/tableStyles" Target="/ppt/tableStyles.xml" Id="Rb89a2d0b8eb5410f" /><Relationship Type="http://schemas.openxmlformats.org/officeDocument/2006/relationships/slide" Target="/ppt/slides/slide1.xml" Id="R96e85367bfe645fd" /><Relationship Type="http://schemas.openxmlformats.org/officeDocument/2006/relationships/slide" Target="/ppt/slides/slide2.xml" Id="Rbf81eaa8c6444cce" /><Relationship Type="http://schemas.openxmlformats.org/officeDocument/2006/relationships/slide" Target="/ppt/slides/slide3.xml" Id="Rf61865030fa84fd6" /><Relationship Type="http://schemas.openxmlformats.org/officeDocument/2006/relationships/slide" Target="/ppt/slides/slide4.xml" Id="R1c4b27e85f534932" /><Relationship Type="http://schemas.openxmlformats.org/officeDocument/2006/relationships/slide" Target="/ppt/slides/slide5.xml" Id="R7bc5d9f003834d43" /><Relationship Type="http://schemas.openxmlformats.org/officeDocument/2006/relationships/slide" Target="/ppt/slides/slide6.xml" Id="R49af74181f2c42e0" /><Relationship Type="http://schemas.openxmlformats.org/officeDocument/2006/relationships/slide" Target="/ppt/slides/slide7.xml" Id="R4b8f20bd05114c1c" /><Relationship Type="http://schemas.openxmlformats.org/officeDocument/2006/relationships/slide" Target="/ppt/slides/slide8.xml" Id="Re18312e2baf94d72" /><Relationship Type="http://schemas.openxmlformats.org/officeDocument/2006/relationships/slide" Target="/ppt/slides/slide9.xml" Id="Rc022fd10e2bf4499" /><Relationship Type="http://schemas.openxmlformats.org/officeDocument/2006/relationships/slide" Target="/ppt/slides/slide10.xml" Id="R28fae15524664785" /><Relationship Type="http://schemas.openxmlformats.org/officeDocument/2006/relationships/slide" Target="/ppt/slides/slide11.xml" Id="Rada2a33ee1ab46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73abed5020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82b5d64a75428b" /><Relationship Type="http://schemas.openxmlformats.org/officeDocument/2006/relationships/notesMaster" Target="/ppt/notesMasters/notesMaster1.xml" Id="R2e26eea4db434e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316e1b1e604fbd" /><Relationship Type="http://schemas.openxmlformats.org/officeDocument/2006/relationships/notesMaster" Target="/ppt/notesMasters/notesMaster1.xml" Id="R064c4ee9df7e49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5b1838502c4b3e" /><Relationship Type="http://schemas.openxmlformats.org/officeDocument/2006/relationships/notesMaster" Target="/ppt/notesMasters/notesMaster1.xml" Id="Rf57e4e015f704c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9218b2026c4e6e" /><Relationship Type="http://schemas.openxmlformats.org/officeDocument/2006/relationships/notesMaster" Target="/ppt/notesMasters/notesMaster1.xml" Id="R7dd4a6edaf9b4a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a96d0ef3d145c7" /><Relationship Type="http://schemas.openxmlformats.org/officeDocument/2006/relationships/notesMaster" Target="/ppt/notesMasters/notesMaster1.xml" Id="Ref996dfb75b84a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08af1c1ad34b73" /><Relationship Type="http://schemas.openxmlformats.org/officeDocument/2006/relationships/notesMaster" Target="/ppt/notesMasters/notesMaster1.xml" Id="R7a3148e64a6148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eb9da00327474f" /><Relationship Type="http://schemas.openxmlformats.org/officeDocument/2006/relationships/notesMaster" Target="/ppt/notesMasters/notesMaster1.xml" Id="R99e56015b46f4c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bb3a849b41444d" /><Relationship Type="http://schemas.openxmlformats.org/officeDocument/2006/relationships/notesMaster" Target="/ppt/notesMasters/notesMaster1.xml" Id="R1dea8cfe79d44a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98422dc4bd44a6" /><Relationship Type="http://schemas.openxmlformats.org/officeDocument/2006/relationships/notesMaster" Target="/ppt/notesMasters/notesMaster1.xml" Id="R4e4b40a35dc445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55e707a29e438c" /><Relationship Type="http://schemas.openxmlformats.org/officeDocument/2006/relationships/notesMaster" Target="/ppt/notesMasters/notesMaster1.xml" Id="Re0ef71e4321140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89baef1a254edf" /><Relationship Type="http://schemas.openxmlformats.org/officeDocument/2006/relationships/notesMaster" Target="/ppt/notesMasters/notesMaster1.xml" Id="Rf296852d3545448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723a9fa3248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ec77ed40f4d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4e409fe9d4b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6cd6d91df4b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34c6491a447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1de694cd84b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B5386B-875D-4F96-88D4-3B84C6514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6B6A88-80D2-46C8-9734-9BD95FB43B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B35610-9F5D-48B4-B568-6B2AADC4B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3AB471-913B-4466-86AA-93F819B2DC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CF8ED3-6F8E-4991-9DBB-5255D4B33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3CF087-63E8-4BE0-85B8-CBA42517B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37ACDE-F9FF-4055-B6C3-D6E8B2526B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6B93AE-727E-445E-B9EF-1BBDBD90EB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581783-FB81-4403-B6FC-DE6A913FB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C0414D-981B-4A79-B49C-957BFC6917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5b3b75d9974c75" /><Relationship Type="http://schemas.openxmlformats.org/officeDocument/2006/relationships/slideLayout" Target="/ppt/slideLayouts/slideLayout1.xml" Id="R0dbb931c022c4d48" /><Relationship Type="http://schemas.openxmlformats.org/officeDocument/2006/relationships/slideLayout" Target="/ppt/slideLayouts/slideLayout2.xml" Id="R35cb217335db4591" /><Relationship Type="http://schemas.openxmlformats.org/officeDocument/2006/relationships/slideLayout" Target="/ppt/slideLayouts/slideLayout3.xml" Id="R60fec3853bd343bd" /><Relationship Type="http://schemas.openxmlformats.org/officeDocument/2006/relationships/slideLayout" Target="/ppt/slideLayouts/slideLayout4.xml" Id="R018d415d49b742d3" /><Relationship Type="http://schemas.openxmlformats.org/officeDocument/2006/relationships/slideLayout" Target="/ppt/slideLayouts/slideLayout5.xml" Id="Rfbceb4b5eb3b4f48" /><Relationship Type="http://schemas.openxmlformats.org/officeDocument/2006/relationships/slideLayout" Target="/ppt/slideLayouts/slideLayout6.xml" Id="Rfa889e63dcf64b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b931c022c4d48"/>
    <p:sldLayoutId xmlns:r="http://schemas.openxmlformats.org/officeDocument/2006/relationships" id="2147483650" r:id="R35cb217335db4591"/>
    <p:sldLayoutId xmlns:r="http://schemas.openxmlformats.org/officeDocument/2006/relationships" id="2147483651" r:id="R60fec3853bd343bd"/>
    <p:sldLayoutId xmlns:r="http://schemas.openxmlformats.org/officeDocument/2006/relationships" id="2147483652" r:id="R018d415d49b742d3"/>
    <p:sldLayoutId xmlns:r="http://schemas.openxmlformats.org/officeDocument/2006/relationships" id="2147483653" r:id="Rfbceb4b5eb3b4f48"/>
    <p:sldLayoutId xmlns:r="http://schemas.openxmlformats.org/officeDocument/2006/relationships" id="2147483654" r:id="Rfa889e63dcf64b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c311d254f4846" /><Relationship Type="http://schemas.openxmlformats.org/officeDocument/2006/relationships/image" Target="/ppt/media/image.png" Id="R00bfc06ea3dc437c" /><Relationship Type="http://schemas.openxmlformats.org/officeDocument/2006/relationships/notesSlide" Target="/ppt/notesSlides/notesSlide1.xml" Id="R9b3ef186ae1045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9b5d14ab34697" /><Relationship Type="http://schemas.openxmlformats.org/officeDocument/2006/relationships/notesSlide" Target="/ppt/notesSlides/notesSlide2.xml" Id="Reb70136952bb47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50aee09554ceb" /><Relationship Type="http://schemas.openxmlformats.org/officeDocument/2006/relationships/notesSlide" Target="/ppt/notesSlides/notesSlide3.xml" Id="R2c6a10252152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47408586641ec" /><Relationship Type="http://schemas.openxmlformats.org/officeDocument/2006/relationships/image" Target="/ppt/media/image2.png" Id="R35903e902f114a30" /><Relationship Type="http://schemas.openxmlformats.org/officeDocument/2006/relationships/notesSlide" Target="/ppt/notesSlides/notesSlide4.xml" Id="R411df310fd00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9dd509e014a2d" /><Relationship Type="http://schemas.openxmlformats.org/officeDocument/2006/relationships/notesSlide" Target="/ppt/notesSlides/notesSlide5.xml" Id="R07d540e1a1034c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46303430e45ec" /><Relationship Type="http://schemas.openxmlformats.org/officeDocument/2006/relationships/notesSlide" Target="/ppt/notesSlides/notesSlide6.xml" Id="R4c87c4d26b4c45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d30edad684450" /><Relationship Type="http://schemas.openxmlformats.org/officeDocument/2006/relationships/image" Target="/ppt/media/image3.png" Id="Rd4ce07cd5fec451b" /><Relationship Type="http://schemas.openxmlformats.org/officeDocument/2006/relationships/image" Target="/ppt/media/image4.png" Id="R215969ee47364657" /><Relationship Type="http://schemas.openxmlformats.org/officeDocument/2006/relationships/notesSlide" Target="/ppt/notesSlides/notesSlide7.xml" Id="R569cd652e3d449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53d33840548b1" /><Relationship Type="http://schemas.openxmlformats.org/officeDocument/2006/relationships/image" Target="/ppt/media/image5.png" Id="R8cb72694456440f3" /><Relationship Type="http://schemas.openxmlformats.org/officeDocument/2006/relationships/notesSlide" Target="/ppt/notesSlides/notesSlide8.xml" Id="Rcf9fd51eeb7f48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132c1c7f041fe" /><Relationship Type="http://schemas.openxmlformats.org/officeDocument/2006/relationships/chart" Target="/ppt/slides/charts/chart1.xml" Id="R0fd38799d4044c0e" /><Relationship Type="http://schemas.openxmlformats.org/officeDocument/2006/relationships/notesSlide" Target="/ppt/notesSlides/notesSlide9.xml" Id="Rfcf0cd401c9143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a137376074ff0" /><Relationship Type="http://schemas.openxmlformats.org/officeDocument/2006/relationships/image" Target="/ppt/media/image6.png" Id="Ra7c4ed2fbac94b6e" /><Relationship Type="http://schemas.openxmlformats.org/officeDocument/2006/relationships/image" Target="/ppt/media/image7.png" Id="R0a627e490d144a64" /><Relationship Type="http://schemas.openxmlformats.org/officeDocument/2006/relationships/notesSlide" Target="/ppt/notesSlides/notesSlide10.xml" Id="R337464076b564f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245ae48df473c" /><Relationship Type="http://schemas.openxmlformats.org/officeDocument/2006/relationships/notesSlide" Target="/ppt/notesSlides/notesSlide11.xml" Id="R822330d873a648e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varyColors val="0"/>
        <c:ser>
          <c:idx val="0"/>
          <c:order val="0"/>
          <c:tx>
            <c:v>Regional recall</c:v>
          </c:tx>
          <c:spPr>
            <a:solidFill xmlns:a="http://schemas.openxmlformats.org/drawingml/2006/main">
              <a:srgbClr val="416C72"/>
            </a:solidFill>
          </c:spPr>
          <c:invertIfNegative val="0"/>
          <c:cat>
            <c:strLit>
              <c:ptCount val="5"/>
              <c:pt idx="0">
                <c:v>Americas</c:v>
              </c:pt>
              <c:pt idx="1">
                <c:v>SE Asia</c:v>
              </c:pt>
              <c:pt idx="2">
                <c:v>Canada / USA</c:v>
              </c:pt>
              <c:pt idx="3">
                <c:v>Sub-Saharan Africa</c:v>
              </c:pt>
              <c:pt idx="4">
                <c:v>Russia</c:v>
              </c:pt>
            </c:strLit>
          </c:cat>
          <c:val>
            <c:numLit>
              <c:formatCode>0"%"</c:formatCode>
              <c:ptCount val="5"/>
              <c:pt idx="0">
                <c:v>54</c:v>
              </c:pt>
              <c:pt idx="1">
                <c:v>44</c:v>
              </c:pt>
              <c:pt idx="2">
                <c:v>41</c:v>
              </c:pt>
              <c:pt idx="3">
                <c:v>41</c:v>
              </c:pt>
              <c:pt idx="4">
                <c:v>31</c:v>
              </c:pt>
            </c:numLit>
          </c:val>
        </c:ser>
        <c:dLbls>
          <c:numFmt formatCode="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0">
                  <a:solidFill>
                    <a:srgbClr val="58676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3E0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BAAC1-857D-412D-9029-BF97D7481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fc06ea3dc437c"/>
          <a:srcRect xmlns:a="http://schemas.openxmlformats.org/drawingml/2006/main" l="8000" t="32000" r="52000" b="35000"/>
          <a:stretch xmlns:a="http://schemas.openxmlformats.org/drawingml/2006/main"/>
        </p:blipFill>
        <p:spPr>
          <a:xfrm xmlns:a="http://schemas.openxmlformats.org/drawingml/2006/main">
            <a:off x="5953125" y="1781175"/>
            <a:ext cx="5619750" cy="3238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CA068-3516-4D50-A49D-5F5D3642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Annual loss of intact forest landscapes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B7056-0891-4A74-A806-26510ACB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8676A"/>
                </a:solidFill>
                <a:latin typeface="Arial"/>
                <a:ea typeface="Arial"/>
                <a:cs typeface="Arial"/>
              </a:rPr>
              <a:t>Iddo Glass (2025)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7C74D-D8AE-4603-9522-4F9E975F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79FB5-4A4E-4468-B95B-A7CAEE4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143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2B30"/>
                </a:solidFill>
                <a:latin typeface="Arial"/>
                <a:ea typeface="Arial"/>
                <a:cs typeface="Arial"/>
              </a:rPr>
              <a:t>Estimate annual intact forest</a:t>
            </a:r>
          </a:p>
          <a:p xmlns:a="http://schemas.openxmlformats.org/drawingml/2006/main">
            <a: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2B30"/>
                </a:solidFill>
                <a:latin typeface="Arial"/>
                <a:ea typeface="Arial"/>
                <a:cs typeface="Arial"/>
              </a:rPr>
              <a:t>landscape (IFL) loss between</a:t>
            </a:r>
          </a:p>
          <a:p xmlns:a="http://schemas.openxmlformats.org/drawingml/2006/main">
            <a:pPr algn="l">
              <a:defRPr sz="22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2B30"/>
                </a:solidFill>
                <a:latin typeface="Arial"/>
                <a:ea typeface="Arial"/>
                <a:cs typeface="Arial"/>
              </a:rPr>
              <a:t>existing map snapshots, 2001-2024.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82C6D-9CED-484F-9887-EC441644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09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8676A"/>
                </a:solidFill>
                <a:latin typeface="Arial"/>
                <a:ea typeface="Arial"/>
                <a:cs typeface="Arial"/>
              </a:rPr>
              <a:t>Developed for Houngbedji et al. (2026) using Google Earth Engine. Meant to examine when IFL loss occurred relative to forest certification.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B6211-3819-4853-8D5F-3790701F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293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8676A"/>
                </a:solidFill>
                <a:latin typeface="Arial"/>
                <a:ea typeface="Arial"/>
                <a:cs typeface="Arial"/>
              </a:rPr>
              <a:t>Northwestern Congo Basin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44FC5-F4C5-4A2E-AC83-9E6AD83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8676A"/>
                </a:solidFill>
                <a:latin typeface="Arial"/>
                <a:ea typeface="Arial"/>
                <a:cs typeface="Arial"/>
              </a:rPr>
              <a:t>Houngbedji, K., Isman, J. J., Plakhtieva, M., &amp; Wren-Lewis, L. (2026). What are the Limits to Voluntary Certification? Evidence from an Attempt to Protect Biodiversity. Working paper.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6CBAB-89C5-433E-8E45-7260574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FD901-F1BE-4827-8E97-89B877B1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53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8C7E5-1D04-450D-A197-C7C669DC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244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8676A"/>
                </a:solidFill>
                <a:latin typeface="Arial"/>
                <a:ea typeface="Arial"/>
                <a:cs typeface="Arial"/>
              </a:rPr>
              <a:t>IFL extent in 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8B637-EA2D-4A97-86F9-7046CFE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673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8676A"/>
                </a:solidFill>
                <a:latin typeface="Arial"/>
                <a:ea typeface="Arial"/>
                <a:cs typeface="Arial"/>
              </a:rPr>
              <a:t>Estimated loss: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86A85-F796-4F56-AC82-5CF12421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C6399-3D9C-4784-B654-D9F036C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7687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74AFF-B07C-4E92-9D7E-52C081BA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524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6F3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21F6C-3030-402C-8012-5C53697B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47687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F5B35-1250-47F1-A70E-E9C847E1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24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14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EC10B-1549-4D8A-8906-B9F539E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47687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6345E-73EC-448D-8601-317DC82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524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4A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DC722-48EB-4D98-BE7B-4F15A67E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47687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603622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97D3C-C108-47F3-9643-8BD728A7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What qualifies as an intact forest landscape?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B64F5-0D37-44A2-B18F-DCD3EFD9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5D82C-C414-4748-871D-C1C1AB0F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02a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54203-BB2C-4A62-B342-47E55ABC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82B30"/>
                </a:solidFill>
                <a:latin typeface="Arial"/>
                <a:ea typeface="Arial"/>
                <a:cs typeface="Arial"/>
              </a:rPr>
              <a:t>Large, connected natural ecosystems without substantial human disturbance.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01B45-4F7B-49FB-82EB-2963E81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Existing snapshots: 2000, 2013, 2016, 2020 and 2025</a:t>
            </a:r>
          </a:p>
          <a:p xmlns:a="http://schemas.openxmlformats.org/drawingml/2006/main">
            <a: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(Potapov et al., 2017; IFL Mapping Team, 2025)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8E028-3DB2-48F3-B7E0-B542ECA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290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BC161-0D10-4B20-AB17-8FCFD956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20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3450">
                <a:solidFill>
                  <a:srgbClr val="416C72"/>
                </a:solidFill>
                <a:latin typeface="Arial"/>
                <a:ea typeface="Arial"/>
                <a:cs typeface="Arial"/>
              </a:rPr>
              <a:t>2km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516B9-156D-4D5F-80B7-62454470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Minimum width of</a:t>
            </a:r>
          </a:p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corridors and appendages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4379-15D9-4990-80DA-07497E8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4290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3C56A-0EE8-41D9-AC3E-F70A45A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320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3450">
                <a:solidFill>
                  <a:srgbClr val="416C72"/>
                </a:solidFill>
                <a:latin typeface="Arial"/>
                <a:ea typeface="Arial"/>
                <a:cs typeface="Arial"/>
              </a:rPr>
              <a:t>500km²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96010-77C8-4048-BA0E-CCB1690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57675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Minimum</a:t>
            </a:r>
          </a:p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patch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9E49B-B404-4DE9-8F73-166A4F8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4290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E3591-B94B-4486-BB07-A106E395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320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3450">
                <a:solidFill>
                  <a:srgbClr val="416C72"/>
                </a:solidFill>
                <a:latin typeface="Arial"/>
                <a:ea typeface="Arial"/>
                <a:cs typeface="Arial"/>
              </a:rPr>
              <a:t>10km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70A87-0760-4953-A3B2-89E216B7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Minimum width at</a:t>
            </a:r>
          </a:p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the broadest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62C9D-F485-4BFD-AB18-CA623B5C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34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8676A"/>
                </a:solidFill>
                <a:latin typeface="Arial"/>
                <a:ea typeface="Arial"/>
                <a:cs typeface="Arial"/>
              </a:rPr>
              <a:t>Potapov et al. (2017). The last frontiers of wilderness: Tracking loss of intact forest landscapes from 2000 to 2013. Science Advances, 3, e1600821.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C1350-6DE3-4C63-8292-5C773D6B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8676A"/>
                </a:solidFill>
                <a:latin typeface="Arial"/>
                <a:ea typeface="Arial"/>
                <a:cs typeface="Arial"/>
              </a:rPr>
              <a:t>IFL Mapping Team (2025). Intact Forest Landscapes Extent and Change, 2000-2025.</a:t>
            </a:r>
          </a:p>
        </p:txBody>
      </p:sp>
    </p:spTree>
    <p:extLst>
      <p:ext uri="{BB962C8B-B14F-4D97-AF65-F5344CB8AC3E}">
        <p14:creationId xmlns:p14="http://schemas.microsoft.com/office/powerpoint/2010/main" val="1225342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89FA3-B875-4859-99A7-83FA7038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From disturbance to IFL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9B0D2-8720-42BB-B99A-8368FDAA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38471-761C-4148-94CE-65A29D44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02b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9B4B3-BFCF-42BC-B9B7-FDFB0C7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7563D-E639-4DF2-BB9D-3C19AB20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05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30"/>
                </a:solidFill>
                <a:latin typeface="Arial"/>
                <a:ea typeface="Arial"/>
                <a:cs typeface="Arial"/>
              </a:rPr>
              <a:t>Detect disturbance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15262-C74C-4ED5-ABE2-B05368BD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05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D5CFC-47B1-4B34-B3CA-17CC9FB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9050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30"/>
                </a:solidFill>
                <a:latin typeface="Arial"/>
                <a:ea typeface="Arial"/>
                <a:cs typeface="Arial"/>
              </a:rPr>
              <a:t>Buffer by 1km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DD0FF-8460-4B69-AFC0-F2966721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82B30"/>
                </a:solidFill>
                <a:latin typeface="Arial"/>
                <a:ea typeface="Arial"/>
                <a:cs typeface="Arial"/>
              </a:rPr>
              <a:t>Apply spatial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A841D-13F3-4B86-B16C-AB0B8FC8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29000" cy="24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D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064F4-DC89-44A9-A423-4F86CA94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20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defPPr>
            <a:lvl1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3450">
                <a:solidFill>
                  <a:srgbClr val="42633E"/>
                </a:solidFill>
                <a:latin typeface="Arial"/>
                <a:ea typeface="Arial"/>
                <a:cs typeface="Arial"/>
              </a:rPr>
              <a:t>2km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FD93F-CD90-495A-88ED-155ABC70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Minimum width of</a:t>
            </a:r>
          </a:p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corridors and appendages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1D843-94CF-4955-AAF5-F925FDC9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320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defPPr>
            <a:lvl1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42633E"/>
                </a:solidFill>
                <a:latin typeface="Arial"/>
                <a:ea typeface="Arial"/>
                <a:cs typeface="Arial"/>
              </a:rPr>
              <a:t>Remove narrow parts.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1946D-87C6-42DA-BF9B-DEFC354B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429000" cy="24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D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1E0AA-6F90-4678-88EC-FF739511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320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defPPr>
            <a:lvl1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3450">
                <a:solidFill>
                  <a:srgbClr val="42633E"/>
                </a:solidFill>
                <a:latin typeface="Arial"/>
                <a:ea typeface="Arial"/>
                <a:cs typeface="Arial"/>
              </a:rPr>
              <a:t>500km²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62DF7-3809-422D-BD0F-88714340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57675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Minimum</a:t>
            </a:r>
          </a:p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patch area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9A310-55BB-457C-B4AE-CC351A75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95875"/>
            <a:ext cx="320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defPPr>
            <a:lvl1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42633E"/>
                </a:solidFill>
                <a:latin typeface="Arial"/>
                <a:ea typeface="Arial"/>
                <a:cs typeface="Arial"/>
              </a:rPr>
              <a:t>Remove smaller remnants.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87BE9-05F3-4E4C-96F5-45B7C323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429000" cy="24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0FBC9-EDBE-4713-9F6D-60BA684A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320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defPPr>
            <a:lvl1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>
                <a:solidFill>
                  <a:srgbClr val="8F6134"/>
                </a:solidFill>
                <a:latin typeface="Arial"/>
                <a:ea typeface="Arial"/>
                <a:cs typeface="Arial"/>
              </a:defRPr>
            </a:pPr>
            <a:r>
              <a:rPr sz="3450">
                <a:solidFill>
                  <a:srgbClr val="8F6134"/>
                </a:solidFill>
                <a:latin typeface="Arial"/>
                <a:ea typeface="Arial"/>
                <a:cs typeface="Arial"/>
              </a:rPr>
              <a:t>10km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66F36-3495-4432-9B8D-8E6516D8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Minimum width at</a:t>
            </a:r>
          </a:p>
          <a:p xmlns:a="http://schemas.openxmlformats.org/drawingml/2006/main">
            <a:pPr algn="ctr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the broadest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FD2A5-3D6B-4545-86DB-57D0BEEE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20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defPPr>
            <a:lvl1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8F6134"/>
                </a:solidFill>
                <a:latin typeface="Arial"/>
                <a:ea typeface="Arial"/>
                <a:cs typeface="Arial"/>
              </a:rPr>
              <a:t>Not applied: little added</a:t>
            </a:r>
          </a:p>
          <a:p xmlns:a="http://schemas.openxmlformats.org/drawingml/2006/main">
            <a:pPr algn="ctr">
              <a:defRPr sz="1725">
                <a:solidFill>
                  <a:srgbClr val="8F61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8F6134"/>
                </a:solidFill>
                <a:latin typeface="Arial"/>
                <a:ea typeface="Arial"/>
                <a:cs typeface="Arial"/>
              </a:rPr>
              <a:t>value, high computing cost.</a:t>
            </a:r>
          </a:p>
        </p:txBody>
      </p:sp>
    </p:spTree>
    <p:extLst>
      <p:ext uri="{BB962C8B-B14F-4D97-AF65-F5344CB8AC3E}">
        <p14:creationId xmlns:p14="http://schemas.microsoft.com/office/powerpoint/2010/main" val="1236983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654F1-DAA6-4D79-AAE8-6E7DE233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Estimating loss one year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441C2-BF41-4A9C-A51E-DAEA86E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522C7-8419-4557-925D-95AA6371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D3C6C-6DE7-4E9E-8E2E-0AC601DDD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03e902f114a30"/>
          <a:stretch xmlns:a="http://schemas.openxmlformats.org/drawingml/2006/main"/>
        </p:blipFill>
        <p:spPr>
          <a:xfrm xmlns:a="http://schemas.openxmlformats.org/drawingml/2006/main">
            <a:off x="1082675" y="1695450"/>
            <a:ext cx="598805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956A7-20E6-4CEA-B55B-9BD2EB95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1. Find tree loss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39A8D-78E8-44AD-8D4E-A27E5DE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81225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30"/>
                </a:solidFill>
                <a:latin typeface="Arial"/>
                <a:ea typeface="Arial"/>
                <a:cs typeface="Arial"/>
              </a:rPr>
              <a:t>Select the year’s forest loss</a:t>
            </a:r>
          </a:p>
          <a:p xmlns:a="http://schemas.openxmlformats.org/drawingml/2006/main">
            <a: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30"/>
                </a:solidFill>
                <a:latin typeface="Arial"/>
                <a:ea typeface="Arial"/>
                <a:cs typeface="Arial"/>
              </a:rPr>
              <a:t>and exclude mapped fires.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A4BA3-E4D3-45FB-BBC5-A390C9BC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2. Group disturbance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3BB1C-A2F5-4EB0-B55D-AAC3E77C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671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30"/>
                </a:solidFill>
                <a:latin typeface="Arial"/>
                <a:ea typeface="Arial"/>
                <a:cs typeface="Arial"/>
              </a:rPr>
              <a:t>Buffer connected pixels by 1km.</a:t>
            </a:r>
          </a:p>
          <a:p xmlns:a="http://schemas.openxmlformats.org/drawingml/2006/main">
            <a: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30"/>
                </a:solidFill>
                <a:latin typeface="Arial"/>
                <a:ea typeface="Arial"/>
                <a:cs typeface="Arial"/>
              </a:rPr>
              <a:t>Keep groups with enough loss.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89919-B830-4993-B8AC-0ACDB526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3. Apply IFL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CFFFE-B05C-48D9-891D-50E3EA9A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52975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30"/>
                </a:solidFill>
                <a:latin typeface="Arial"/>
                <a:ea typeface="Arial"/>
                <a:cs typeface="Arial"/>
              </a:rPr>
              <a:t>Remove narrow parts and</a:t>
            </a:r>
          </a:p>
          <a:p xmlns:a="http://schemas.openxmlformats.org/drawingml/2006/main">
            <a:pPr>
              <a:defRPr sz="18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30"/>
                </a:solidFill>
                <a:latin typeface="Arial"/>
                <a:ea typeface="Arial"/>
                <a:cs typeface="Arial"/>
              </a:rPr>
              <a:t>small remaining patches.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35A2D-CF7B-4AAC-A3EC-C07CC490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91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08917-066C-44E6-AC82-250C0165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435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Tree-loss pixels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18ADB-5470-4B57-9902-2D4D80C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772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DE6BF-2BA2-4E15-8940-7FC42ED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7435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1km candidate buffers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02CA7-5A93-44D5-A770-FA19B4C4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91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AD999-FEE8-4C22-B533-7471A697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435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Previous IFL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10CC7-3A47-48C1-B96B-828AFED5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8676A"/>
                </a:solidFill>
                <a:latin typeface="Arial"/>
                <a:ea typeface="Arial"/>
                <a:cs typeface="Arial"/>
              </a:rPr>
              <a:t>Hansen et al. (2013). High-resolution global maps of 21st-century forest cover change. Science, 342, 850-853.</a:t>
            </a:r>
          </a:p>
          <a:p xmlns:a="http://schemas.openxmlformats.org/drawingml/2006/main">
            <a:pPr>
              <a:defRPr sz="12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8676A"/>
                </a:solidFill>
                <a:latin typeface="Arial"/>
                <a:ea typeface="Arial"/>
                <a:cs typeface="Arial"/>
              </a:rPr>
              <a:t>Tyukavina et al. (2022). Global trends of forest loss due to fire from 2001 to 2019. Frontiers in Remote Sensing, 3, 825190.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556E8-67A7-444F-8581-EACDBD8E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693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8676A"/>
                </a:solidFill>
                <a:latin typeface="Arial"/>
                <a:ea typeface="Arial"/>
                <a:cs typeface="Arial"/>
              </a:rPr>
              <a:t>Western Congo, 2021 loss over current satellite imagery</a:t>
            </a:r>
          </a:p>
        </p:txBody>
      </p:sp>
    </p:spTree>
    <p:extLst>
      <p:ext uri="{BB962C8B-B14F-4D97-AF65-F5344CB8AC3E}">
        <p14:creationId xmlns:p14="http://schemas.microsoft.com/office/powerpoint/2010/main" val="1277424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8363C-A933-49B5-A340-E1243C91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Updating the remaining IFL each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CB4EE-D2A4-4D73-8F61-3B4CDB69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1BB90-EE55-4667-9006-036692E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84DA1-2DD1-4D06-A124-AE06CCF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30"/>
                </a:solidFill>
                <a:latin typeface="Arial"/>
                <a:ea typeface="Arial"/>
                <a:cs typeface="Arial"/>
              </a:rPr>
              <a:t>Each update starts from the area remaining after the previous year.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F0A64-31AC-4D80-88B9-702196B1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714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5D1B6-1011-4D7E-9868-236EF780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562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16C72"/>
                </a:solidFill>
                <a:latin typeface="Arial"/>
                <a:ea typeface="Arial"/>
                <a:cs typeface="Arial"/>
              </a:rPr>
              <a:t>Baseline IFL</a:t>
            </a:r>
          </a:p>
          <a:p xmlns:a="http://schemas.openxmlformats.org/drawingml/2006/main">
            <a: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16C72"/>
                </a:solidFill>
                <a:latin typeface="Arial"/>
                <a:ea typeface="Arial"/>
                <a:cs typeface="Arial"/>
              </a:rPr>
              <a:t>year 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F094E-38F4-4391-B0D5-266D3D41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714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AB613-6E58-4D74-8E06-47B18D74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38475"/>
            <a:ext cx="1562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16C72"/>
                </a:solidFill>
                <a:latin typeface="Arial"/>
                <a:ea typeface="Arial"/>
                <a:cs typeface="Arial"/>
              </a:rPr>
              <a:t>Remaining IFL</a:t>
            </a:r>
          </a:p>
          <a:p xmlns:a="http://schemas.openxmlformats.org/drawingml/2006/main">
            <a: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16C72"/>
                </a:solidFill>
                <a:latin typeface="Arial"/>
                <a:ea typeface="Arial"/>
                <a:cs typeface="Arial"/>
              </a:rPr>
              <a:t>year t + 1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97A1C-1FE4-4B36-A77E-C76CB21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752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FB756-AAD7-4D33-A581-3B031D90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3847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16C72"/>
                </a:solidFill>
                <a:latin typeface="Arial"/>
                <a:ea typeface="Arial"/>
                <a:cs typeface="Arial"/>
              </a:rPr>
              <a:t>Remaining IFL</a:t>
            </a:r>
          </a:p>
          <a:p xmlns:a="http://schemas.openxmlformats.org/drawingml/2006/main">
            <a:pPr algn="ctr">
              <a:defRPr sz="187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16C72"/>
                </a:solidFill>
                <a:latin typeface="Arial"/>
                <a:ea typeface="Arial"/>
                <a:cs typeface="Arial"/>
              </a:rPr>
              <a:t>year t + 2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30227-BE29-45FD-91BA-21B0A442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05075"/>
            <a:ext cx="2095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5EF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1C3D1-60BB-4FFD-BAD9-42C83D34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8669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2633E"/>
                </a:solidFill>
                <a:latin typeface="Arial"/>
                <a:ea typeface="Arial"/>
                <a:cs typeface="Arial"/>
              </a:rPr>
              <a:t>Apply year t + 1</a:t>
            </a:r>
          </a:p>
          <a:p xmlns:a="http://schemas.openxmlformats.org/drawingml/2006/main">
            <a: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2633E"/>
                </a:solidFill>
                <a:latin typeface="Arial"/>
                <a:ea typeface="Arial"/>
                <a:cs typeface="Arial"/>
              </a:rPr>
              <a:t>disturbance and</a:t>
            </a:r>
          </a:p>
          <a:p xmlns:a="http://schemas.openxmlformats.org/drawingml/2006/main">
            <a: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2633E"/>
                </a:solidFill>
                <a:latin typeface="Arial"/>
                <a:ea typeface="Arial"/>
                <a:cs typeface="Arial"/>
              </a:rPr>
              <a:t>spatial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90904-8D70-4DD7-ACCC-687856E1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416C7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9E916-18ED-4AF6-8ED8-55D4164E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48225"/>
            <a:ext cx="2095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B5C21-4945-4A7E-91A5-78E8213A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00625"/>
            <a:ext cx="190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8F6134"/>
                </a:solidFill>
                <a:latin typeface="Arial"/>
                <a:ea typeface="Arial"/>
                <a:cs typeface="Arial"/>
              </a:rPr>
              <a:t>Estimated loss</a:t>
            </a:r>
          </a:p>
          <a:p xmlns:a="http://schemas.openxmlformats.org/drawingml/2006/main">
            <a: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8F6134"/>
                </a:solidFill>
                <a:latin typeface="Arial"/>
                <a:ea typeface="Arial"/>
                <a:cs typeface="Arial"/>
              </a:rPr>
              <a:t>in year t + 1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0A970-6777-4AFD-ABD9-C0675C3D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05075"/>
            <a:ext cx="2095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5EF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FE2E7-E215-4966-AED8-E3E396A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8669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2633E"/>
                </a:solidFill>
                <a:latin typeface="Arial"/>
                <a:ea typeface="Arial"/>
                <a:cs typeface="Arial"/>
              </a:rPr>
              <a:t>Apply year t + 2</a:t>
            </a:r>
          </a:p>
          <a:p xmlns:a="http://schemas.openxmlformats.org/drawingml/2006/main">
            <a: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2633E"/>
                </a:solidFill>
                <a:latin typeface="Arial"/>
                <a:ea typeface="Arial"/>
                <a:cs typeface="Arial"/>
              </a:rPr>
              <a:t>disturbance and</a:t>
            </a:r>
          </a:p>
          <a:p xmlns:a="http://schemas.openxmlformats.org/drawingml/2006/main">
            <a:pPr algn="ctr">
              <a:defRPr sz="1875">
                <a:solidFill>
                  <a:srgbClr val="42633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2633E"/>
                </a:solidFill>
                <a:latin typeface="Arial"/>
                <a:ea typeface="Arial"/>
                <a:cs typeface="Arial"/>
              </a:rPr>
              <a:t>spatial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1A905-727A-4810-8D48-68BD2F3A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416C7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178CE-2D0F-400D-B1DF-C6A46159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8225"/>
            <a:ext cx="2095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00DAF-894A-426C-A88C-17CC8E23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190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8F6134"/>
                </a:solidFill>
                <a:latin typeface="Arial"/>
                <a:ea typeface="Arial"/>
                <a:cs typeface="Arial"/>
              </a:rPr>
              <a:t>Estimated loss</a:t>
            </a:r>
          </a:p>
          <a:p xmlns:a="http://schemas.openxmlformats.org/drawingml/2006/main">
            <a:pPr algn="ctr">
              <a:defRPr sz="1800">
                <a:solidFill>
                  <a:srgbClr val="8F61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8F6134"/>
                </a:solidFill>
                <a:latin typeface="Arial"/>
                <a:ea typeface="Arial"/>
                <a:cs typeface="Arial"/>
              </a:rPr>
              <a:t>in year t + 2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20144-9975-4D41-B828-1222FF73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432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416C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72866-2416-406D-A268-1B2E4D75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432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416C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5112B-9A85-4D83-9087-67080CD1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432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416C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50BA7-AA24-4411-ABFD-B46788F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416C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09550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25722-48DC-461B-9BCA-4A5A4C4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Implementation at 30m resolution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E6DB-86F7-408A-AC6E-A502DA97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7A504-75CB-405A-ABC5-CE0BFD6E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F9192-AD2D-4179-A994-C881E88E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Spatial operations and area calculations at 30m were expensive.</a:t>
            </a:r>
          </a:p>
          <a:p xmlns:a="http://schemas.openxmlformats.org/drawingml/2006/main">
            <a:pPr algn="l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Runs remained costly even after the changes below.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68F94-FE05-4889-84D7-F434E718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416C72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18BEF-1B7A-4E83-ABAF-04090321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90825"/>
            <a:ext cx="842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Developed in the GEE JavaScript editor. Python automated annual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044F8-875E-4D77-A11A-E798D8ED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416C72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4D97F-9BB3-4181-9C83-11D33C01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842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Split processing into regions, drawing boundaries to avoid cutting IFL patches.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1EFFE-F585-4EEA-B2AF-AA2C2E2C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416C72"/>
                </a:solidFill>
                <a:latin typeface="Arial"/>
                <a:ea typeface="Arial"/>
                <a:cs typeface="Arial"/>
              </a:rPr>
              <a:t>Spatial filtering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A3D88-2FBB-462E-8678-544149EA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842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Used raster erosion and regrowth.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AF954-474C-4386-BD25-66A706C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416C72"/>
                </a:solidFill>
                <a:latin typeface="Arial"/>
                <a:ea typeface="Arial"/>
                <a:cs typeface="Arial"/>
              </a:rPr>
              <a:t>Area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4D249-88E1-4E87-A934-EAAD0E46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842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Screened patches at 200m, then removed small areas from the detailed map.</a:t>
            </a:r>
          </a:p>
        </p:txBody>
      </p:sp>
    </p:spTree>
    <p:extLst>
      <p:ext uri="{BB962C8B-B14F-4D97-AF65-F5344CB8AC3E}">
        <p14:creationId xmlns:p14="http://schemas.microsoft.com/office/powerpoint/2010/main" val="344424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2FE45-B7E7-4AF8-B413-1423977A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Improving detection: filtering isolated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456BF-75E9-4F0B-BBDA-338E96A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C3D63-FB5A-4735-9BCE-D43F64C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7D4DE-5304-4285-A3C6-816E0443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57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30"/>
                </a:solidFill>
                <a:latin typeface="Arial"/>
                <a:ea typeface="Arial"/>
                <a:cs typeface="Arial"/>
              </a:rPr>
              <a:t>all candidate buffers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9F469-FB2C-4800-9610-42A97641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57350"/>
            <a:ext cx="4467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30"/>
                </a:solidFill>
                <a:latin typeface="Arial"/>
                <a:ea typeface="Arial"/>
                <a:cs typeface="Arial"/>
              </a:rPr>
              <a:t>groups with enough loss pixels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0341D-B1BB-41C4-9712-B2254E87B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e07cd5fec451b"/>
          <a:srcRect xmlns:a="http://schemas.openxmlformats.org/drawingml/2006/main" l="0" t="667" r="0" b="0"/>
          <a:stretch xmlns:a="http://schemas.openxmlformats.org/drawingml/2006/main"/>
        </p:blipFill>
        <p:spPr>
          <a:xfrm xmlns:a="http://schemas.openxmlformats.org/drawingml/2006/main">
            <a:off x="609600" y="2181225"/>
            <a:ext cx="5286375" cy="34956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73E2D-332D-48B7-B4AA-CA19FDA2D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969ee47364657"/>
          <a:srcRect xmlns:a="http://schemas.openxmlformats.org/drawingml/2006/main" l="5537" t="0" r="0" b="401"/>
          <a:stretch xmlns:a="http://schemas.openxmlformats.org/drawingml/2006/main"/>
        </p:blipFill>
        <p:spPr>
          <a:xfrm xmlns:a="http://schemas.openxmlformats.org/drawingml/2006/main">
            <a:off x="6286500" y="2181225"/>
            <a:ext cx="5286375" cy="34956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4EC1E-363F-46FD-90DB-080001E1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38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838CB-6D9E-4774-B3E0-73051E16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791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8676A"/>
                </a:solidFill>
                <a:latin typeface="Arial"/>
                <a:ea typeface="Arial"/>
                <a:cs typeface="Arial"/>
              </a:rPr>
              <a:t>Tree-loss pixels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CFB37-8A28-4A77-B3E5-F173F32B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838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A9BA6-CC86-48BB-954B-40806303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912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8676A"/>
                </a:solidFill>
                <a:latin typeface="Arial"/>
                <a:ea typeface="Arial"/>
                <a:cs typeface="Arial"/>
              </a:rPr>
              <a:t>Buffered candidates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A9FA4-5B4C-4B9F-8A9C-DAADE955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838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A29A8-C316-48DC-A0C8-765F94AB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91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8676A"/>
                </a:solidFill>
                <a:latin typeface="Arial"/>
                <a:ea typeface="Arial"/>
                <a:cs typeface="Arial"/>
              </a:rPr>
              <a:t>Previous IFL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B316A-AA83-4530-8E48-A9D4BEEF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8676A"/>
                </a:solidFill>
                <a:latin typeface="Arial"/>
                <a:ea typeface="Arial"/>
                <a:cs typeface="Arial"/>
              </a:rPr>
              <a:t>Western Congo, 2021 loss over current satellite imagery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A09BE-C934-4197-9089-6C7A3D5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23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Before: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F50AE-3BC0-4F8C-8EE4-956CC3B6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After:</a:t>
            </a:r>
          </a:p>
        </p:txBody>
      </p:sp>
    </p:spTree>
    <p:extLst>
      <p:ext uri="{BB962C8B-B14F-4D97-AF65-F5344CB8AC3E}">
        <p14:creationId xmlns:p14="http://schemas.microsoft.com/office/powerpoint/2010/main" val="1898986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A5C20-6F10-4A40-B740-FEB39649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Corridor and appendage filtering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B0FEA-1AA3-41E7-BB7F-E917B796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54E78-CA66-4A13-880D-D0C494FA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0F7D8-7F1F-4818-B87A-EA95589C26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72694456440f3"/>
          <a:stretch xmlns:a="http://schemas.openxmlformats.org/drawingml/2006/main"/>
        </p:blipFill>
        <p:spPr>
          <a:xfrm xmlns:a="http://schemas.openxmlformats.org/drawingml/2006/main">
            <a:off x="614219" y="1714500"/>
            <a:ext cx="6515387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0570B-1126-4973-A758-E5F5A3D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B7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18E57-98C9-4F13-8AD0-56EA3A9C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817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Remaining IFL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06F4C-89DD-4D99-A133-A186C3F7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229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6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728F2-17B5-45E4-A603-0B6BB52E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81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Removed: spatial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1756E-4AF6-44CF-A266-21954FD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229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1B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6CE26-96FB-4FEF-8EAE-920D18DB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6181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8676A"/>
                </a:solidFill>
                <a:latin typeface="Arial"/>
                <a:ea typeface="Arial"/>
                <a:cs typeface="Arial"/>
              </a:rPr>
              <a:t>Removed: disturbance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2527E-9DD8-4D8C-8691-50F6DD5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8676A"/>
                </a:solidFill>
                <a:latin typeface="Arial"/>
                <a:ea typeface="Arial"/>
                <a:cs typeface="Arial"/>
              </a:rPr>
              <a:t>Western Congo, 2021 loss over current satellite imagery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A352B-19D3-4674-B605-43DE6D33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16C72"/>
                </a:solidFill>
                <a:latin typeface="Arial"/>
                <a:ea typeface="Arial"/>
                <a:cs typeface="Arial"/>
              </a:rPr>
              <a:t>1. Shrink by 1km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A368F-B56E-4513-9B90-4481220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3952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Narrow parts disappear.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6B325-4A7C-48D2-A886-BEEAF31A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528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16C72"/>
                </a:solidFill>
                <a:latin typeface="Arial"/>
                <a:ea typeface="Arial"/>
                <a:cs typeface="Arial"/>
              </a:rPr>
              <a:t>2. Regrow by 1.5km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12EE1-D8CA-4EB2-80BC-DCEDF221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3952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Restore the wider areas.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D7B74-E8BD-4343-8B1A-CBCC8FD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4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16C72"/>
                </a:solidFill>
                <a:latin typeface="Arial"/>
                <a:ea typeface="Arial"/>
                <a:cs typeface="Arial"/>
              </a:rPr>
              <a:t>3. Keep the overlap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ED1A6-C16A-40AB-B5A8-FF20738F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3952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Limit regrowth to the original IFL.</a:t>
            </a:r>
          </a:p>
        </p:txBody>
      </p:sp>
    </p:spTree>
    <p:extLst>
      <p:ext uri="{BB962C8B-B14F-4D97-AF65-F5344CB8AC3E}">
        <p14:creationId xmlns:p14="http://schemas.microsoft.com/office/powerpoint/2010/main" val="15840628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45D91-6123-4412-9440-2D0449F0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Share of snapshot loss assigned to a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17A83-CB21-4E62-A68E-E243CBF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CC5BD-4FA7-46F6-B18A-1F321F83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C9D13-539A-4593-A942-29F1BEC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76A"/>
                </a:solidFill>
                <a:latin typeface="Arial"/>
                <a:ea typeface="Arial"/>
                <a:cs typeface="Arial"/>
              </a:rPr>
              <a:t>2021-2024 estimates, compared with loss between the 2020 and 2025 IFL maps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0A61486-7DEB-4B22-8FE8-FB9ECA812BFA}"/>
              </a:ext>
            </a:extLst>
          </p:cNvPr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7810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d38799d4044c0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DC316-BAC8-4DF1-AC09-6272A082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Precision: 98.9-99.6%, nearly 100% by design as estimates are restricted to loss in the IFL snapshots.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1C9B9-6AA8-4400-B237-AF4136F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432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416C72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3419C-FB72-4CC7-8126-0176F64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24225"/>
            <a:ext cx="2514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B30"/>
                </a:solidFill>
                <a:latin typeface="Arial"/>
                <a:ea typeface="Arial"/>
                <a:cs typeface="Arial"/>
              </a:rPr>
              <a:t>The share of loss shown in the IFL snapshots that the method detects and assigns to a year.</a:t>
            </a:r>
          </a:p>
        </p:txBody>
      </p:sp>
    </p:spTree>
    <p:extLst>
      <p:ext uri="{BB962C8B-B14F-4D97-AF65-F5344CB8AC3E}">
        <p14:creationId xmlns:p14="http://schemas.microsoft.com/office/powerpoint/2010/main" val="651246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67F35-8D13-4495-9245-953BC763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Limitations: not just human disturbance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0B75B-E568-4B78-8A22-FF06EDC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9525">
            <a:solidFill>
              <a:srgbClr val="C7CFC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3460B-0616-479F-8D14-9F87CA11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B9139-C8BF-4AAD-8535-C16B14D7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657350"/>
            <a:ext cx="3514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16C72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12308-0106-497B-81D2-5AA92E1D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657350"/>
            <a:ext cx="3514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16C72"/>
                </a:solidFill>
                <a:latin typeface="Arial"/>
                <a:ea typeface="Arial"/>
                <a:cs typeface="Arial"/>
              </a:rPr>
              <a:t>Riverbed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18ABD-C162-4A81-B336-E83BE121CC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4ed2fbac94b6e"/>
          <a:srcRect xmlns:a="http://schemas.openxmlformats.org/drawingml/2006/main" l="16000" t="0" r="16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5425" y="2114550"/>
            <a:ext cx="3514725" cy="3429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C29B6-4A8D-4E8A-90BB-1313E319C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27e490d144a64"/>
          <a:stretch xmlns:a="http://schemas.openxmlformats.org/drawingml/2006/main"/>
        </p:blipFill>
        <p:spPr>
          <a:xfrm xmlns:a="http://schemas.openxmlformats.org/drawingml/2006/main">
            <a:off x="7172071" y="2114550"/>
            <a:ext cx="3515232" cy="3429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360BF-331D-4507-AD3C-BFA5554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Both count as IFL loss here: both appear as tree-cover loss in Hansen et al. (2013).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F9906-52DF-445F-A95A-D0EB074D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76A"/>
                </a:solidFill>
                <a:latin typeface="Arial"/>
                <a:ea typeface="Arial"/>
                <a:cs typeface="Arial"/>
              </a:rPr>
              <a:t>Papua New Guinea. Satellite imagery: 2026.</a:t>
            </a:r>
          </a:p>
        </p:txBody>
      </p:sp>
    </p:spTree>
    <p:extLst>
      <p:ext uri="{BB962C8B-B14F-4D97-AF65-F5344CB8AC3E}">
        <p14:creationId xmlns:p14="http://schemas.microsoft.com/office/powerpoint/2010/main" val="6873582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AD06D-4001-4CB8-A2EC-E24E3C09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182B30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6A3B1-1A85-465C-B32B-1FD91309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FC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051A2-362F-4F01-9B1D-72B3BB88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8676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867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DDF1D-30BF-4AC4-8226-16F5E74F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157F9-B316-465D-AA6B-4110727A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82B30"/>
                </a:solidFill>
                <a:latin typeface="Arial"/>
                <a:ea typeface="Arial"/>
                <a:cs typeface="Arial"/>
              </a:rPr>
              <a:t>Some loss shown in the IFL snapshots remains unassigned to a year.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2125B-8C7B-4864-9596-51D631E6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21AA9-8509-4092-8497-82389188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82B30"/>
                </a:solidFill>
                <a:latin typeface="Arial"/>
                <a:ea typeface="Arial"/>
                <a:cs typeface="Arial"/>
              </a:rPr>
              <a:t>No annual reference maps are available to check the estimated year of loss.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400DA-DDEF-4C36-94C3-CC80E4B4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7CC57-2B00-49BB-B383-54EB04E3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04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82B30"/>
                </a:solidFill>
                <a:latin typeface="Arial"/>
                <a:ea typeface="Arial"/>
                <a:cs typeface="Arial"/>
              </a:rPr>
              <a:t>The fire-loss data ends in 2023, leaving 2024 without this filter.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44511-24AB-4708-BF07-EEADF57E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29235-1A50-4807-98EB-4CAC9CC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957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82B30"/>
                </a:solidFill>
                <a:latin typeface="Arial"/>
                <a:ea typeface="Arial"/>
                <a:cs typeface="Arial"/>
              </a:rPr>
              <a:t>Coarser area checks can miss small remnants.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FEE76-9348-45EB-8D7D-CF7D19D8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416C7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16C7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1040E-A826-46E2-A845-91AAEF93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9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82B30"/>
                </a:solidFill>
                <a:latin typeface="Arial"/>
                <a:ea typeface="Arial"/>
                <a:cs typeface="Arial"/>
              </a:rPr>
              <a:t>GEE quotas limited further runs and testing.</a:t>
            </a:r>
          </a:p>
        </p:txBody>
      </p:sp>
    </p:spTree>
    <p:extLst>
      <p:ext uri="{BB962C8B-B14F-4D97-AF65-F5344CB8AC3E}">
        <p14:creationId xmlns:p14="http://schemas.microsoft.com/office/powerpoint/2010/main" val="834019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2026-10-27T22:35:11.5590000Z</dcterms:created>
  <dcterms:modified xsi:type="dcterms:W3CDTF">2026-10-27T22:35:11.5590000Z</dcterms:modified>
</coreProperties>
</file>